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5" d="100"/>
          <a:sy n="105" d="100"/>
        </p:scale>
        <p:origin x="26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Column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0">
                      <a:solidFill>
                        <a:srgbClr val="000000"/>
                      </a:solidFill>
                    </a:ln>
                  </c:spPr>
                </c15:leaderLines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90-48B2-9F78-986D9E5A4AEB}"/>
            </c:ext>
          </c:extLst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Column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0">
                      <a:solidFill>
                        <a:srgbClr val="000000"/>
                      </a:solidFill>
                    </a:ln>
                  </c:spPr>
                </c15:leaderLines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8.8000000000000007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190-48B2-9F78-986D9E5A4AEB}"/>
            </c:ext>
          </c:extLst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Column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0">
                      <a:solidFill>
                        <a:srgbClr val="000000"/>
                      </a:solidFill>
                    </a:ln>
                  </c:spPr>
                </c15:leaderLines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190-48B2-9F78-986D9E5A4A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8462887"/>
        <c:axId val="40937315"/>
      </c:barChart>
      <c:catAx>
        <c:axId val="8462887"/>
        <c:scaling>
          <c:orientation val="minMax"/>
        </c:scaling>
        <c:delete val="0"/>
        <c:axPos val="b"/>
        <c:numFmt formatCode="[$-409]mm/dd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sz="1000" b="0" u="none" strike="noStrik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  <a:endParaRPr lang="en-US"/>
          </a:p>
        </c:txPr>
        <c:crossAx val="40937315"/>
        <c:crosses val="autoZero"/>
        <c:auto val="1"/>
        <c:lblAlgn val="ctr"/>
        <c:lblOffset val="100"/>
        <c:noMultiLvlLbl val="0"/>
      </c:catAx>
      <c:valAx>
        <c:axId val="40937315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sz="1000" b="0" u="none" strike="noStrik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  <a:endParaRPr lang="en-US"/>
          </a:p>
        </c:txPr>
        <c:crossAx val="8462887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000000"/>
              </a:solidFill>
              <a:uFillTx/>
              <a:latin typeface="Arial"/>
              <a:ea typeface="DejaVu Sans"/>
            </a:defRPr>
          </a:pPr>
          <a:endParaRPr lang="en-US"/>
        </a:p>
      </c:txPr>
    </c:legend>
    <c:plotVisOnly val="1"/>
    <c:dispBlanksAs val="gap"/>
    <c:showDLblsOverMax val="1"/>
  </c:chart>
  <c:spPr>
    <a:noFill/>
    <a:ln w="0">
      <a:noFill/>
    </a:ln>
  </c:spPr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560880"/>
            <a:ext cx="907020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FA0E869-E2A5-473A-A085-52CAFBD05CF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560880"/>
            <a:ext cx="907020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56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951E671-74EA-4627-935E-45AC3DD4567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840" cy="38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Grover search for 1101 marked state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504000" y="1325160"/>
            <a:ext cx="9070200" cy="328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Members: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Yugandhara Sherkar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Gaurav Mohol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Ayush Agrawal</a:t>
            </a: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Sharad Pratap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Searching the marked Quantum State ∣1101⟩</a:t>
            </a: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0000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Given a 4-qubit search space containing 2^4=16 possible quantum basis states.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The objective is to search the marked state ∣1101⟩ using Grover's quantum search algorithm.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Classical search requires checking elements one by one.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Average classical complexity: O(N)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Grover's algorithm performs search in O(N) oracle queries.</a:t>
            </a: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85200"/>
            <a:ext cx="9070200" cy="626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Grover's Algorithm?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PlaceHolder 2"/>
              <p:cNvSpPr>
                <a:spLocks noGrp="1"/>
              </p:cNvSpPr>
              <p:nvPr>
                <p:ph/>
              </p:nvPr>
            </p:nvSpPr>
            <p:spPr>
              <a:xfrm>
                <a:off x="504000" y="1326600"/>
                <a:ext cx="9071280" cy="328788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normAutofit fontScale="85000" lnSpcReduction="19999"/>
              </a:bodyPr>
              <a:lstStyle/>
              <a:p>
                <a:pPr marL="432000" indent="-324000">
                  <a:lnSpc>
                    <a:spcPct val="100000"/>
                  </a:lnSpc>
                  <a:spcBef>
                    <a:spcPts val="1417"/>
                  </a:spcBef>
                  <a:buClr>
                    <a:srgbClr val="000000"/>
                  </a:buClr>
                  <a:buSzPct val="45000"/>
                  <a:buFont typeface="Wingdings" charset="2"/>
                  <a:buChar char=""/>
                </a:pP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uFillTx/>
                    <a:latin typeface="Arial"/>
                  </a:rPr>
                  <a:t>Grover's algorithm is a quantum search algorithm for finding a marked item inside an unstructured database.</a:t>
                </a:r>
              </a:p>
              <a:p>
                <a:pPr marL="432000" indent="-324000">
                  <a:lnSpc>
                    <a:spcPct val="100000"/>
                  </a:lnSpc>
                  <a:spcBef>
                    <a:spcPts val="1417"/>
                  </a:spcBef>
                  <a:buClr>
                    <a:srgbClr val="000000"/>
                  </a:buClr>
                  <a:buSzPct val="45000"/>
                  <a:buFont typeface="Wingdings" charset="2"/>
                  <a:buChar char=""/>
                </a:pP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uFillTx/>
                    <a:latin typeface="Arial"/>
                  </a:rPr>
                  <a:t>It consists of two main operations:</a:t>
                </a:r>
              </a:p>
              <a:p>
                <a:pPr marL="360000" indent="-324000">
                  <a:lnSpc>
                    <a:spcPct val="100000"/>
                  </a:lnSpc>
                  <a:spcBef>
                    <a:spcPts val="1417"/>
                  </a:spcBef>
                  <a:buClr>
                    <a:srgbClr val="000000"/>
                  </a:buClr>
                  <a:buSzPct val="45000"/>
                  <a:buFont typeface="Source Code Pro"/>
                  <a:buChar char="▶"/>
                </a:pP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uFillTx/>
                    <a:latin typeface="Arial"/>
                  </a:rPr>
                  <a:t>Oracle</a:t>
                </a:r>
              </a:p>
              <a:p>
                <a:pPr marL="360000" indent="-324000">
                  <a:lnSpc>
                    <a:spcPct val="100000"/>
                  </a:lnSpc>
                  <a:spcBef>
                    <a:spcPts val="1417"/>
                  </a:spcBef>
                  <a:buClr>
                    <a:srgbClr val="000000"/>
                  </a:buClr>
                  <a:buSzPct val="45000"/>
                  <a:buFont typeface="Source Code Pro"/>
                  <a:buChar char="▶"/>
                </a:pP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uFillTx/>
                    <a:latin typeface="Arial"/>
                  </a:rPr>
                  <a:t>Diffusion Operator</a:t>
                </a:r>
              </a:p>
              <a:p>
                <a:pPr marL="432000" indent="-324000">
                  <a:lnSpc>
                    <a:spcPct val="100000"/>
                  </a:lnSpc>
                  <a:spcBef>
                    <a:spcPts val="1417"/>
                  </a:spcBef>
                  <a:buClr>
                    <a:srgbClr val="000000"/>
                  </a:buClr>
                  <a:buFont typeface="Symbol" charset="2"/>
                  <a:buChar char=""/>
                </a:pP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uFillTx/>
                    <a:latin typeface="Arial"/>
                  </a:rPr>
                  <a:t>Repeated application amplifies the amplitude of the marked state.</a:t>
                </a:r>
              </a:p>
              <a:p>
                <a:pPr marL="432000" indent="-324000">
                  <a:lnSpc>
                    <a:spcPct val="100000"/>
                  </a:lnSpc>
                  <a:spcBef>
                    <a:spcPts val="1417"/>
                  </a:spcBef>
                  <a:buClr>
                    <a:srgbClr val="000000"/>
                  </a:buClr>
                  <a:buFont typeface="Symbol" charset="2"/>
                  <a:buChar char=""/>
                </a:pP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uFillTx/>
                    <a:latin typeface="Arial"/>
                  </a:rPr>
                  <a:t>Initial state ∣0000⟩</a:t>
                </a:r>
              </a:p>
              <a:p>
                <a:pPr marL="432000" indent="-324000">
                  <a:lnSpc>
                    <a:spcPct val="100000"/>
                  </a:lnSpc>
                  <a:spcBef>
                    <a:spcPts val="1191"/>
                  </a:spcBef>
                  <a:spcAft>
                    <a:spcPts val="992"/>
                  </a:spcAft>
                  <a:buClr>
                    <a:srgbClr val="000000"/>
                  </a:buClr>
                  <a:buFont typeface="Symbol" charset="2"/>
                  <a:buChar char=""/>
                </a:pP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uFillTx/>
                    <a:latin typeface="Arial"/>
                  </a:rPr>
                  <a:t>After Hadamard gates</a:t>
                </a:r>
                <a:br>
                  <a:rPr lang="en-US" sz="1600" dirty="0"/>
                </a:br>
                <a:br>
                  <a:rPr lang="en-US" sz="1600" dirty="0"/>
                </a:br>
                <a:r>
                  <a:rPr lang="en-US" sz="1600" dirty="0"/>
                  <a:t>	</a:t>
                </a: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uFillTx/>
                    <a:latin typeface="Arial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sz="1600" b="0" i="1" u="none" strike="noStrike" smtClean="0">
                            <a:solidFill>
                              <a:srgbClr val="000000"/>
                            </a:solidFill>
                            <a:effectLst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1600" b="0" i="1" u="none" strike="noStrike" smtClean="0">
                            <a:solidFill>
                              <a:srgbClr val="000000"/>
                            </a:solidFill>
                            <a:effectLst/>
                            <a:uFillTx/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ar-AE" sz="1600" b="0" i="1" u="none" strike="noStrike" smtClean="0">
                                <a:solidFill>
                                  <a:srgbClr val="000000"/>
                                </a:solidFill>
                                <a:effectLst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ar-AE" sz="1600" b="0" i="1" u="none" strike="noStrike" smtClean="0">
                                <a:solidFill>
                                  <a:srgbClr val="000000"/>
                                </a:solidFill>
                                <a:effectLst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GB" sz="1600" b="0" i="1" u="none" strike="noStrike" smtClean="0">
                                <a:solidFill>
                                  <a:srgbClr val="000000"/>
                                </a:solidFill>
                                <a:effectLst/>
                                <a:uFillTx/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rad>
                      </m:den>
                    </m:f>
                    <m:nary>
                      <m:naryPr>
                        <m:chr m:val="∑"/>
                        <m:ctrlPr>
                          <a:rPr lang="ar-AE" sz="1600" b="0" i="1" u="none" strike="noStrike" smtClean="0">
                            <a:solidFill>
                              <a:srgbClr val="000000"/>
                            </a:solidFill>
                            <a:effectLst/>
                            <a:uFillTx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1600" b="0" i="1" u="none" strike="noStrike" smtClean="0">
                            <a:solidFill>
                              <a:srgbClr val="000000"/>
                            </a:solidFill>
                            <a:effectLst/>
                            <a:uFillTx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sz="1600" b="0" i="1" u="none" strike="noStrike" smtClean="0">
                            <a:solidFill>
                              <a:srgbClr val="000000"/>
                            </a:solidFill>
                            <a:effectLst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GB" sz="1600" b="0" i="1" u="none" strike="noStrike" smtClean="0">
                            <a:solidFill>
                              <a:srgbClr val="000000"/>
                            </a:solidFill>
                            <a:effectLst/>
                            <a:uFillTx/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GB" sz="1600" b="0" i="1" u="none" strike="noStrike" smtClean="0">
                            <a:solidFill>
                              <a:srgbClr val="000000"/>
                            </a:solidFill>
                            <a:effectLst/>
                            <a:uFillTx/>
                            <a:latin typeface="Cambria Math" panose="02040503050406030204" pitchFamily="18" charset="0"/>
                          </a:rPr>
                          <m:t>15</m:t>
                        </m:r>
                      </m:sup>
                      <m:e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⟩</m:t>
                        </m:r>
                      </m:e>
                    </m:nary>
                  </m:oMath>
                </a14:m>
                <a:endParaRPr lang="ar-AE" sz="1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432000" indent="0">
                  <a:lnSpc>
                    <a:spcPct val="100000"/>
                  </a:lnSpc>
                  <a:spcBef>
                    <a:spcPts val="1417"/>
                  </a:spcBef>
                  <a:buNone/>
                  <a:tabLst>
                    <a:tab pos="0" algn="l"/>
                  </a:tabLst>
                </a:pPr>
                <a:r>
                  <a:rPr lang="ar-AE" sz="1600" b="0" u="none" strike="noStrike" dirty="0">
                    <a:solidFill>
                      <a:srgbClr val="000000"/>
                    </a:solidFill>
                    <a:effectLst/>
                    <a:uFillTx/>
                    <a:latin typeface="Arial"/>
                  </a:rPr>
                  <a:t> </a:t>
                </a:r>
                <a:r>
                  <a:rPr lang="en-US" sz="1600" b="0" u="none" strike="noStrike" dirty="0">
                    <a:solidFill>
                      <a:srgbClr val="000000"/>
                    </a:solidFill>
                    <a:effectLst/>
                    <a:uFillTx/>
                    <a:latin typeface="Arial"/>
                  </a:rPr>
                  <a:t>Every basis state initially has equal probability.</a:t>
                </a:r>
              </a:p>
              <a:p>
                <a:pPr marL="432000" indent="0">
                  <a:lnSpc>
                    <a:spcPct val="100000"/>
                  </a:lnSpc>
                  <a:spcBef>
                    <a:spcPts val="1417"/>
                  </a:spcBef>
                  <a:buNone/>
                  <a:tabLst>
                    <a:tab pos="0" algn="l"/>
                  </a:tabLst>
                </a:pPr>
                <a:endParaRPr lang="en-US" sz="32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432000" indent="0">
                  <a:lnSpc>
                    <a:spcPct val="100000"/>
                  </a:lnSpc>
                  <a:spcBef>
                    <a:spcPts val="1417"/>
                  </a:spcBef>
                  <a:buNone/>
                  <a:tabLst>
                    <a:tab pos="0" algn="l"/>
                  </a:tabLst>
                </a:pPr>
                <a:endParaRPr lang="en-US" sz="32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432000" indent="0">
                  <a:lnSpc>
                    <a:spcPct val="100000"/>
                  </a:lnSpc>
                  <a:spcBef>
                    <a:spcPts val="1417"/>
                  </a:spcBef>
                  <a:buNone/>
                  <a:tabLst>
                    <a:tab pos="0" algn="l"/>
                  </a:tabLst>
                </a:pPr>
                <a:endParaRPr lang="en-US" sz="32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432000" indent="0">
                  <a:lnSpc>
                    <a:spcPct val="100000"/>
                  </a:lnSpc>
                  <a:spcBef>
                    <a:spcPts val="1417"/>
                  </a:spcBef>
                  <a:buNone/>
                  <a:tabLst>
                    <a:tab pos="0" algn="l"/>
                  </a:tabLst>
                </a:pPr>
                <a:endParaRPr lang="en-US" sz="32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432000" indent="0">
                  <a:lnSpc>
                    <a:spcPct val="100000"/>
                  </a:lnSpc>
                  <a:spcBef>
                    <a:spcPts val="1417"/>
                  </a:spcBef>
                  <a:buNone/>
                  <a:tabLst>
                    <a:tab pos="0" algn="l"/>
                  </a:tabLst>
                </a:pPr>
                <a:endParaRPr lang="en-US" sz="32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432000" indent="0">
                  <a:lnSpc>
                    <a:spcPct val="100000"/>
                  </a:lnSpc>
                  <a:spcBef>
                    <a:spcPts val="1417"/>
                  </a:spcBef>
                  <a:buNone/>
                  <a:tabLst>
                    <a:tab pos="0" algn="l"/>
                  </a:tabLst>
                </a:pPr>
                <a:endParaRPr lang="en-US" sz="32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432000" indent="0">
                  <a:lnSpc>
                    <a:spcPct val="100000"/>
                  </a:lnSpc>
                  <a:spcBef>
                    <a:spcPts val="1417"/>
                  </a:spcBef>
                  <a:buNone/>
                  <a:tabLst>
                    <a:tab pos="0" algn="l"/>
                  </a:tabLst>
                </a:pPr>
                <a:endParaRPr lang="en-US" sz="32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>
          <p:sp>
            <p:nvSpPr>
              <p:cNvPr id="15" name="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/>
              </p:nvPr>
            </p:nvSpPr>
            <p:spPr>
              <a:xfrm>
                <a:off x="504000" y="1326600"/>
                <a:ext cx="9071280" cy="3287880"/>
              </a:xfrm>
              <a:prstGeom prst="rect">
                <a:avLst/>
              </a:prstGeom>
              <a:blipFill>
                <a:blip r:embed="rId2"/>
                <a:stretch>
                  <a:fillRect l="-202" t="-315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362880"/>
            <a:ext cx="9070200" cy="67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Steps </a:t>
            </a: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162831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60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Initialize</a:t>
            </a:r>
          </a:p>
          <a:p>
            <a:pPr marL="360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Apply Hadamard Gates</a:t>
            </a:r>
          </a:p>
          <a:p>
            <a:pPr marL="360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Uniform Superposition</a:t>
            </a:r>
          </a:p>
          <a:p>
            <a:pPr marL="360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Oracle</a:t>
            </a:r>
          </a:p>
          <a:p>
            <a:pPr marL="720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Char char="►"/>
            </a:pPr>
            <a:r>
              <a:rPr lang="en-US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WenQuanYi Zen Hei"/>
              </a:rPr>
              <a:t>Marks ∣1101⟩ by </a:t>
            </a:r>
            <a:r>
              <a:rPr lang="en-US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WenQuanYi Zen Hei"/>
              </a:rPr>
              <a:t>by</a:t>
            </a:r>
            <a:r>
              <a:rPr lang="en-US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WenQuanYi Zen Hei"/>
              </a:rPr>
              <a:t> phase inversion ∣1101⟩→−∣1101⟩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WenQuanYi Zen Hei"/>
              </a:rPr>
              <a:t>Diffusion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Char char="►"/>
            </a:pPr>
            <a:r>
              <a:rPr lang="en-US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WenQuanYi Zen Hei"/>
              </a:rPr>
              <a:t>Reflects amplitudes around the average amplitude.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Char char="►"/>
            </a:pPr>
            <a:r>
              <a:rPr lang="en-US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WenQuanYi Zen Hei"/>
              </a:rPr>
              <a:t>This increases the amplitude of the marked state.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WenQuanYi Zen Hei"/>
              </a:rPr>
              <a:t>Repeat k times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11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WenQuanYi Zen Hei"/>
              </a:rPr>
              <a:t>Measurement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385200"/>
            <a:ext cx="9070200" cy="62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Circuit Implementation</a:t>
            </a:r>
          </a:p>
        </p:txBody>
      </p:sp>
      <p:graphicFrame>
        <p:nvGraphicFramePr>
          <p:cNvPr id="20" name="Chart 19"/>
          <p:cNvGraphicFramePr/>
          <p:nvPr/>
        </p:nvGraphicFramePr>
        <p:xfrm>
          <a:off x="504000" y="1326600"/>
          <a:ext cx="9071280" cy="32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1" name="Picture 20"/>
          <p:cNvPicPr/>
          <p:nvPr/>
        </p:nvPicPr>
        <p:blipFill>
          <a:blip r:embed="rId3"/>
          <a:stretch/>
        </p:blipFill>
        <p:spPr>
          <a:xfrm>
            <a:off x="0" y="1303560"/>
            <a:ext cx="10080000" cy="3725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85200"/>
            <a:ext cx="9070200" cy="62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Circuit Implementation Next</a:t>
            </a: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9999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search qubits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ancilla qubit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Auxiliary ancilla qubits for multi-controlled operations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Oracle circuit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Diffusion operator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Measurement circuit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476621"/>
            <a:ext cx="9070200" cy="4431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Measurement Outcome at optimal 3 iterations</a:t>
            </a:r>
          </a:p>
        </p:txBody>
      </p:sp>
      <p:pic>
        <p:nvPicPr>
          <p:cNvPr id="28" name="Picture 27"/>
          <p:cNvPicPr/>
          <p:nvPr/>
        </p:nvPicPr>
        <p:blipFill>
          <a:blip r:embed="rId2"/>
          <a:stretch/>
        </p:blipFill>
        <p:spPr>
          <a:xfrm>
            <a:off x="1766247" y="1171433"/>
            <a:ext cx="6231340" cy="3850943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04000" y="359486"/>
            <a:ext cx="9070200" cy="67710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Simulator Collected</a:t>
            </a: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Probability of the marked state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Marked-state amplitude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amplitude of the search register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component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Imaginary component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90624"/>
            <a:ext cx="9070200" cy="61555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Simulator Results at various iterations</a:t>
            </a: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anchorCtr="1">
            <a:normAutofit/>
          </a:bodyPr>
          <a:lstStyle/>
          <a:p>
            <a:pPr marL="432000" algn="ctr">
              <a:lnSpc>
                <a:spcPct val="100000"/>
              </a:lnSpc>
              <a:spcBef>
                <a:spcPts val="1417"/>
              </a:spcBef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Probability and </a:t>
            </a:r>
            <a:r>
              <a:rPr lang="en-US" sz="1300" dirty="0">
                <a:solidFill>
                  <a:srgbClr val="000000"/>
                </a:solidFill>
              </a:rPr>
              <a:t>Amplitudes(</a:t>
            </a:r>
            <a:r>
              <a:rPr lang="en-US" sz="13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Real and Imaginary Components)</a:t>
            </a: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" name="Picture 30"/>
          <p:cNvPicPr/>
          <p:nvPr/>
        </p:nvPicPr>
        <p:blipFill>
          <a:blip r:embed="rId2"/>
          <a:stretch/>
        </p:blipFill>
        <p:spPr>
          <a:xfrm>
            <a:off x="1641240" y="1600200"/>
            <a:ext cx="6816600" cy="3713328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0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Probability, Real Amplitudes and Imaginary Components</a:t>
            </a: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47500" lnSpcReduction="20000"/>
          </a:bodyPr>
          <a:lstStyle/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green curve represents the probability of measuring the marked state (|1101&gt;).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red curve represents the real amplitude of the marked state.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purple curve represents the average real amplitude of the search register.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probability of the marked state increases rapidly after successive Grover iterations.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Beyond the optimal number of iterations, the probability decreases due to the oscillatory nature of Grover's algorithm.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Imaginary amplitudes remain approximately zero throughout the computation.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confirms that the implementation behaves as expected.</a:t>
            </a: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evolution occurs almost entirely in the real amplitude space.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72720"/>
            <a:ext cx="9070200" cy="125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Way Forward and Learning outcomes</a:t>
            </a: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Understood the working principle of Grover's Search Algorithm.</a:t>
            </a: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Oracle construction.</a:t>
            </a: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the Diffusion operator.</a:t>
            </a: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Understood amplitude amplification.</a:t>
            </a: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Analysed measurement statistics.</a:t>
            </a: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Extend the implementation to multiple marked states.</a:t>
            </a: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Increase the search space using more qubits.</a:t>
            </a: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Compare the algorithm with classical search methods.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4000" y="385200"/>
            <a:ext cx="9070200" cy="626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References</a:t>
            </a: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Qiskit Documentation.</a:t>
            </a: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Lov Grover, A Fast Quantum Mechanical Algorithm for Database Search.</a:t>
            </a: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</TotalTime>
  <Words>429</Words>
  <Application>Microsoft Office PowerPoint</Application>
  <PresentationFormat>Custom</PresentationFormat>
  <Paragraphs>80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Cambria Math</vt:lpstr>
      <vt:lpstr>OpenSymbol</vt:lpstr>
      <vt:lpstr>Source Code Pro</vt:lpstr>
      <vt:lpstr>Symbol</vt:lpstr>
      <vt:lpstr>Times New Roman</vt:lpstr>
      <vt:lpstr>Wingdings</vt:lpstr>
      <vt:lpstr>Office</vt:lpstr>
      <vt:lpstr>Grover search for 1101 marked state</vt:lpstr>
      <vt:lpstr>Searching the marked Quantum State ∣1101⟩</vt:lpstr>
      <vt:lpstr>Grover's Algorithm?</vt:lpstr>
      <vt:lpstr>Algorithm Steps </vt:lpstr>
      <vt:lpstr>Circuit Implementation</vt:lpstr>
      <vt:lpstr>Circuit Implementation Next</vt:lpstr>
      <vt:lpstr>Measurement Outcome at optimal 3 iterations</vt:lpstr>
      <vt:lpstr>Simulator Collected</vt:lpstr>
      <vt:lpstr>Simulator Results at various iterations</vt:lpstr>
      <vt:lpstr>Probability, Real Amplitudes and Imaginary Components</vt:lpstr>
      <vt:lpstr>Way Forward and Learning outcomes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Ayush Agrawal</cp:lastModifiedBy>
  <cp:revision>45</cp:revision>
  <dcterms:created xsi:type="dcterms:W3CDTF">2026-07-04T21:11:20Z</dcterms:created>
  <dcterms:modified xsi:type="dcterms:W3CDTF">2026-07-05T07:44:17Z</dcterms:modified>
  <dc:language>en-US</dc:language>
</cp:coreProperties>
</file>