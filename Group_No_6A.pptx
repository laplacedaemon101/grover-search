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emf" ContentType="image/x-emf"/>
  <Override PartName="/ppt/media/image2.png" ContentType="image/png"/>
  <Override PartName="/ppt/media/image3.png" ContentType="image/png"/>
  <Override PartName="/ppt/charts/chart1.xml" ContentType="application/vnd.openxmlformats-officedocument.drawingml.char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Column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Column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Column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Row 1</c:v>
                </c:pt>
                <c:pt idx="1">
                  <c:v>Row 2</c:v>
                </c:pt>
                <c:pt idx="2">
                  <c:v>Row 3</c:v>
                </c:pt>
                <c:pt idx="3">
                  <c:v>Row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84400313"/>
        <c:axId val="25369157"/>
      </c:barChart>
      <c:catAx>
        <c:axId val="84400313"/>
        <c:scaling>
          <c:orientation val="minMax"/>
        </c:scaling>
        <c:delete val="0"/>
        <c:axPos val="b"/>
        <c:numFmt formatCode="[$-409]mm/dd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25369157"/>
        <c:crosses val="autoZero"/>
        <c:auto val="1"/>
        <c:lblAlgn val="ctr"/>
        <c:lblOffset val="100"/>
        <c:noMultiLvlLbl val="0"/>
      </c:catAx>
      <c:valAx>
        <c:axId val="25369157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trike="noStrike" u="none">
                <a:solidFill>
                  <a:srgbClr val="000000"/>
                </a:solidFill>
                <a:uFillTx/>
                <a:latin typeface="Arial"/>
              </a:defRPr>
            </a:pPr>
          </a:p>
        </c:txPr>
        <c:crossAx val="84400313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trike="noStrike" u="none">
              <a:solidFill>
                <a:srgbClr val="000000"/>
              </a:solidFill>
              <a:uFillTx/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560880"/>
            <a:ext cx="907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33ACC2-48D8-4E75-969A-9EB39832F4AE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560880"/>
            <a:ext cx="907056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716FB0-DE8F-4023-94C3-5CF8B8471874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emf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73080"/>
            <a:ext cx="9070560" cy="125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Grover search for 1101 marked state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504000" y="1325520"/>
            <a:ext cx="9070560" cy="3289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Members: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Yugandhara Sherkar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Gaurav Mohol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Ayush Agrawal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Sharad Pratap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73080"/>
            <a:ext cx="9070560" cy="1250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Searching the marked Quantum State ∣1101⟩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Given a 4-qubit search space containing 2^4=16 possible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quantum basis states.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objective is to search the marked state ∣1101⟩ using </a:t>
            </a: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Grover's quantum search algorithm.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Classical search requires checking elements one by one.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Average classical complexity: O(N)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Grover's algorithm performs search in O(N) oracle 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queries.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385560"/>
            <a:ext cx="9070560" cy="62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Grover's Algorithm?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Grover's algorithm is a quantum search algorithm for finding a marked item inside an unstructured database.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It consists of two main operations: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Source Code Pro"/>
              <a:buChar char="▶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Oracle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Source Code Pro"/>
              <a:buChar char="▶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Diffusion Operator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Repeated application amplifies the amplitude of the marked state.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Initail state ∣0000⟩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After Hadamard gates</a:t>
            </a:r>
            <a:br>
              <a:rPr sz="1600"/>
            </a:br>
            <a:br>
              <a:rPr sz="1600"/>
            </a:b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Every basis state initially has equal probability.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>
        <mc:Choice xmlns:a14="http://schemas.microsoft.com/office/drawing/2010/main" Requires="a14">
          <p:sp>
            <p:nvSpPr>
              <p:cNvPr id="16" name=""/>
              <p:cNvSpPr txBox="1"/>
              <p:nvPr/>
            </p:nvSpPr>
            <p:spPr>
              <a:xfrm>
                <a:off x="2161080" y="3769920"/>
                <a:ext cx="663840" cy="411120"/>
              </a:xfrm>
              <a:prstGeom prst="rect">
                <a:avLst/>
              </a:prstGeom>
            </p:spPr>
            <p:txBody>
              <a:bodyPr/>
              <a:p>
                <a14:m>
                  <m:oMath xmlns:m="http://schemas.openxmlformats.org/officeDocument/2006/math">
                    <m:f>
                      <m:num>
                        <m:r>
                          <m:t xml:space="preserve">1</m:t>
                        </m:r>
                      </m:num>
                      <m:den>
                        <m:rad>
                          <m:radPr>
                            <m:degHide m:val="1"/>
                          </m:radPr>
                          <m:deg/>
                          <m:e>
                            <m:r>
                              <m:t xml:space="preserve">16</m:t>
                            </m:r>
                          </m:e>
                        </m:rad>
                      </m:den>
                    </m:f>
                    <m:nary>
                      <m:naryPr>
                        <m:chr m:val="∑"/>
                      </m:naryPr>
                      <m:sub>
                        <m:r>
                          <m:t xml:space="preserve">x</m:t>
                        </m:r>
                        <m:r>
                          <m:t xml:space="preserve">=</m:t>
                        </m:r>
                        <m:r>
                          <m:t xml:space="preserve">0</m:t>
                        </m:r>
                      </m:sub>
                      <m:sup>
                        <m:r>
                          <m:t xml:space="preserve">15</m:t>
                        </m:r>
                      </m:sup>
                      <m:e>
                        <m:d>
                          <m:dPr>
                            <m:begChr m:val="|"/>
                            <m:endChr m:val="⟩"/>
                          </m:dPr>
                          <m:e>
                            <m:r>
                              <m:t xml:space="preserve">x</m:t>
                            </m:r>
                          </m:e>
                        </m:d>
                      </m:e>
                    </m:nary>
                  </m:oMath>
                </a14:m>
              </a:p>
            </p:txBody>
          </p:sp>
        </mc:Choice>
        <mc:Fallback>
          <p:sp>
            <p:nvSpPr>
              <p:cNvPr id="16" name=""/>
              <p:cNvSpPr txBox="1"/>
              <p:nvPr/>
            </p:nvSpPr>
            <p:spPr>
              <a:xfrm>
                <a:off x="2161080" y="3769920"/>
                <a:ext cx="663840" cy="411120"/>
              </a:xfrm>
              <a:prstGeom prst="rect">
                <a:avLst/>
              </a:prstGeom>
              <a:blipFill>
                <a:blip r:embed="rId1"/>
                <a:stretch>
                  <a:fillRect/>
                </a:stretch>
              </a:blipFill>
            </p:spPr>
          </p:sp>
        </mc:Fallback>
      </mc:AlternateContent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363240"/>
            <a:ext cx="907056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Algorithm Steps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0000" lnSpcReduction="19999"/>
          </a:bodyPr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Initialize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  <a:ea typeface="WenQuanYi Zen Hei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Apply Hadamard Gates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  <a:ea typeface="WenQuanYi Zen Hei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Uniform Superposition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  <a:ea typeface="WenQuanYi Zen Hei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Oracle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  <a:ea typeface="WenQuanYi Zen Hei"/>
            </a:endParaRPr>
          </a:p>
          <a:p>
            <a:pPr marL="72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Char char="►"/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  <a:ea typeface="WenQuanYi Zen Hei"/>
              </a:rPr>
              <a:t>Marks ∣1101⟩ by by phase inversion ∣1101⟩→−∣1101⟩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  <a:ea typeface="WenQuanYi Zen Hei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Diffusion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  <a:ea typeface="WenQuanYi Zen Hei"/>
            </a:endParaRPr>
          </a:p>
          <a:p>
            <a:pPr marL="72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Char char="►"/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  <a:ea typeface="WenQuanYi Zen Hei"/>
              </a:rPr>
              <a:t>Reflects amplitudes around the average amplitude.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  <a:ea typeface="WenQuanYi Zen Hei"/>
            </a:endParaRPr>
          </a:p>
          <a:p>
            <a:pPr marL="72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Char char="►"/>
            </a:pPr>
            <a:r>
              <a:rPr b="0" lang="en-US" sz="1000" strike="noStrike" u="none">
                <a:solidFill>
                  <a:srgbClr val="000000"/>
                </a:solidFill>
                <a:effectLst/>
                <a:uFillTx/>
                <a:latin typeface="Arial"/>
                <a:ea typeface="WenQuanYi Zen Hei"/>
              </a:rPr>
              <a:t>This increases the amplitude of the marked state.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  <a:ea typeface="WenQuanYi Zen Hei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Repeat k times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  <a:ea typeface="WenQuanYi Zen Hei"/>
            </a:endParaRPr>
          </a:p>
          <a:p>
            <a:pPr marL="360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Measurement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  <a:ea typeface="WenQuanYi Zen 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385560"/>
            <a:ext cx="9070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Circuit Implementation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" name=""/>
          <p:cNvGraphicFramePr/>
          <p:nvPr/>
        </p:nvGraphicFramePr>
        <p:xfrm>
          <a:off x="504000" y="1326600"/>
          <a:ext cx="9071640" cy="3288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pic>
        <p:nvPicPr>
          <p:cNvPr id="21" name="" descr=""/>
          <p:cNvPicPr/>
          <p:nvPr/>
        </p:nvPicPr>
        <p:blipFill>
          <a:blip r:embed="rId2"/>
          <a:stretch/>
        </p:blipFill>
        <p:spPr>
          <a:xfrm>
            <a:off x="0" y="1303560"/>
            <a:ext cx="10080360" cy="372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85560"/>
            <a:ext cx="9070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Circuit Implementation Next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 search qubits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1 ancilla qubit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Auxiliary ancilla qubits for multi-controlled operations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Oracle circuit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Diffusion operator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Measurement circuit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504000" y="385560"/>
            <a:ext cx="907056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Collected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Probability of the marked state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Marked-state amplitude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Average amplitude of the search register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Real component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Imaginary component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363240"/>
            <a:ext cx="9070560" cy="67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Results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anchorCtr="1">
            <a:normAutofit/>
          </a:bodyPr>
          <a:p>
            <a:pPr marL="432000" indent="0" algn="ctr">
              <a:spcBef>
                <a:spcPts val="1417"/>
              </a:spcBef>
              <a:buNone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Probability and Real Amplitudes and Imaginary Components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" name="" descr=""/>
          <p:cNvPicPr/>
          <p:nvPr/>
        </p:nvPicPr>
        <p:blipFill>
          <a:blip r:embed="rId1"/>
          <a:stretch/>
        </p:blipFill>
        <p:spPr>
          <a:xfrm>
            <a:off x="1641240" y="1600200"/>
            <a:ext cx="6816960" cy="3200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73080"/>
            <a:ext cx="907056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Probability, Real Amplitudes and Imaginary Components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green curve represents the probability of measuring the marked state (|1101&gt;).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red curve represents the real amplitude of the marked state.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purple curve represents the average real amplitude of the search register.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probability of the marked state increases rapidly after successive Grover 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iterations.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Beyond the optimal number of iterations, the probability decreases due to the 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oscillatory nature of Grover's algorithm.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Imaginary amplitudes remain approximately zero throughout the computation.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This confirms that the implementation behaves as expected.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evolution occurs almost entirely in the real amplitude space.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73080"/>
            <a:ext cx="9070560" cy="1250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Way Forward and Learning outcomes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Understood the working principle of Grover's Search Algorithm.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Learned Oracle construction.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Learned the Diffusion operator.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Understood amplitude amplification.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Analysed measurement statistics.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Extend the implementation to multiple marked states.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Increase the search space using more qubits.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Compare the algorithm with classical search methods.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385560"/>
            <a:ext cx="9070560" cy="625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References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100000"/>
              </a:lnSpc>
              <a:buNone/>
            </a:pP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Qiskit Documentation.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-324000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Lov Grover, A Fast Quantum Mechanical Algorithm for Database Search.</a:t>
            </a: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</a:pPr>
            <a:endParaRPr b="0" lang="en-US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</TotalTime>
  <Application>LibreOffice/25.2.5.2$Linux_X86_64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2026-07-04T21:11:20Z</dcterms:created>
  <dc:creator/>
  <dc:description/>
  <dc:language>en-US</dc:language>
  <cp:lastModifiedBy/>
  <dcterms:modified xsi:type="dcterms:W3CDTF">2026-07-05T00:01:04Z</dcterms:modified>
  <cp:revision>42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